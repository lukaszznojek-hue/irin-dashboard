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9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9A961"/>
                </a:solidFill>
                <a:latin typeface="Georgia"/>
              </a:defRPr>
            </a:pPr>
            <a:r>
              <a:t>INSTYTUT ROZWOJU I NAUKI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Kompleksowe rozwiązania szkoleniowe dla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biuro@irin.pl · +48 453 049 912 · irin.pl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961"/>
                </a:solidFill>
                <a:latin typeface="Calibri"/>
              </a:defRPr>
            </a:pPr>
            <a:r>
              <a:t>Dofinansowanie szkoleń do 90% · BUR PARP · Ocena 4.9/5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951"/>
                </a:solidFill>
                <a:latin typeface="Georgia"/>
              </a:defRPr>
            </a:pPr>
            <a:r>
              <a:t>⚡ KFS 2026 — co się zmieniło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B2951"/>
                </a:solidFill>
                <a:latin typeface="Calibri"/>
              </a:defRPr>
            </a:pPr>
            <a:r>
              <a:t>✅ WYMÓG BUR — od 1.01.2026 szkolenia KFS TYLKO przez Bazę Usług Rozwojowych PARP</a:t>
            </a:r>
          </a:p>
          <a:p>
            <a:pPr>
              <a:spcAft>
                <a:spcPts val="600"/>
              </a:spcAft>
              <a:defRPr sz="1600">
                <a:solidFill>
                  <a:srgbClr val="1B2951"/>
                </a:solidFill>
                <a:latin typeface="Calibri"/>
              </a:defRPr>
            </a:pPr>
            <a:r>
              <a:t>✅ IRIN MA BUR — ID 160205, ocena 4.9/5, 813 ocen. Konkurencja bez BUR NIE MOŻE realizować KFS.</a:t>
            </a:r>
          </a:p>
          <a:p>
            <a:pPr>
              <a:spcAft>
                <a:spcPts val="600"/>
              </a:spcAft>
              <a:defRPr sz="1600">
                <a:solidFill>
                  <a:srgbClr val="1B2951"/>
                </a:solidFill>
                <a:latin typeface="Calibri"/>
              </a:defRPr>
            </a:pPr>
            <a:r>
              <a:t>💰 Dofinansowanie: do 70% kosztów szkolenia (do 90% dla mikrofirm do 9 osób)</a:t>
            </a:r>
          </a:p>
          <a:p>
            <a:pPr>
              <a:spcAft>
                <a:spcPts val="600"/>
              </a:spcAft>
              <a:defRPr sz="1600">
                <a:solidFill>
                  <a:srgbClr val="1B2951"/>
                </a:solidFill>
                <a:latin typeface="Calibri"/>
              </a:defRPr>
            </a:pPr>
            <a:r>
              <a:t>💰 Max: 2× średnia pensja na uczestnika (~17 800 zł w 2026)</a:t>
            </a:r>
          </a:p>
          <a:p>
            <a:pPr>
              <a:spcAft>
                <a:spcPts val="600"/>
              </a:spcAft>
              <a:defRPr sz="1600">
                <a:solidFill>
                  <a:srgbClr val="1B2951"/>
                </a:solidFill>
                <a:latin typeface="Calibri"/>
              </a:defRPr>
            </a:pPr>
            <a:r>
              <a:t>📋 Retencja: pracodawca utrzymuje pracownika 3 miesiące po szkoleniu</a:t>
            </a:r>
          </a:p>
          <a:p>
            <a:pPr>
              <a:spcAft>
                <a:spcPts val="600"/>
              </a:spcAft>
              <a:defRPr sz="1600">
                <a:solidFill>
                  <a:srgbClr val="1B2951"/>
                </a:solidFill>
                <a:latin typeface="Calibri"/>
              </a:defRPr>
            </a:pPr>
            <a:r>
              <a:t>💻 Wniosek: wyłącznie elektroniczny przez praca.gov.pl (PSZ-KFS)</a:t>
            </a:r>
          </a:p>
          <a:p>
            <a:pPr>
              <a:spcAft>
                <a:spcPts val="600"/>
              </a:spcAft>
              <a:defRPr sz="1600">
                <a:solidFill>
                  <a:srgbClr val="1B2951"/>
                </a:solidFill>
                <a:latin typeface="Calibri"/>
              </a:defRPr>
            </a:pPr>
            <a:r>
              <a:t>🎯 Priorytety: P1-P4 ogólnopolskie + P5-P7 wojewódzkie + 1 powiatowy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9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961"/>
                </a:solidFill>
                <a:latin typeface="Georgia"/>
              </a:defRPr>
            </a:pPr>
            <a:r>
              <a:t>IRIN w liczbach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A961"/>
                </a:solidFill>
                <a:latin typeface="Georgia"/>
              </a:defRPr>
            </a:pPr>
            <a:r>
              <a:t>4.9/5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Ocena w BUR PARP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A961"/>
                </a:solidFill>
                <a:latin typeface="Georgia"/>
              </a:defRPr>
            </a:pPr>
            <a:r>
              <a:t>813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Ocen klientów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A961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Aktywnych usług BUR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A961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Akademii szkoleniowych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Siedziba: Kielce · Oddział: Gdańsk · Zasięg: cała Polska (szkolenia zdalne)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Dofinansowanie szkoleń do 90% · KFS · BUR · EFS+ · FERS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Trenerzy-praktycy z doświadczeniem biznesowym · Praca w małych grupach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951"/>
                </a:solidFill>
                <a:latin typeface="Georgia"/>
              </a:defRPr>
            </a:pPr>
            <a:r>
              <a:t>Misja i wartości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Georgia"/>
              </a:defRPr>
            </a:pPr>
            <a:r>
              <a:t>Wspieranie rozwoju osobistego i zawodowego klientów poprzez dostarczanie wysokiej jakości szkoleń i programów edukacyjnych.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🎓 Profesjonalne i indywidualne podejście do każdego klienta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🤝 Uczciwość i partnerstwo — trenerzy-praktycy, nie teoretycy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📈 Ciągłe doskonalenie — akademie jako ścieżki rozwoju, nie jednorazowe szkolenia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👥 Praca w małych grupach — trener może poświęcić uwagę każdemu uczestnikowi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🏆 Powiązanie z PNSA — Polish National Sales Awards (15+ edycji konkursu sprzedażowego)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9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1"/>
                </a:solidFill>
                <a:latin typeface="Georgia"/>
              </a:defRPr>
            </a:pPr>
            <a:r>
              <a:t>Oferta szkoleniowa — 4 klastry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1"/>
                </a:solidFill>
                <a:latin typeface="Georgia"/>
              </a:defRPr>
            </a:pPr>
            <a:r>
              <a:t>AI / Cyfryzacja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Social Media w erze AI (20h)</a:t>
            </a:r>
            <a:br/>
            <a:r>
              <a:t>• Skuteczność osobista + AI (28h)</a:t>
            </a:r>
            <a:br/>
            <a:r>
              <a:t>• Nowoczesna sprzedaż cyfrowa (20h)</a:t>
            </a:r>
            <a:br/>
            <a:r>
              <a:t>• Zarządzanie czasem z AI (50h)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188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1"/>
                </a:solidFill>
                <a:latin typeface="Georgia"/>
              </a:defRPr>
            </a:pPr>
            <a:r>
              <a:t>Edukacja specjalistyczna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82880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Integracja sensoryczna I+II (120h)</a:t>
            </a:r>
            <a:br/>
            <a:r>
              <a:t>  Kielce + Gdańsk</a:t>
            </a:r>
            <a:br/>
            <a:r>
              <a:t>• TUS - Trening Umiejętności Społecznych (50h)</a:t>
            </a:r>
            <a:br/>
            <a:r>
              <a:t>• Psychologia dobrostanu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188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1"/>
                </a:solidFill>
                <a:latin typeface="Georgia"/>
              </a:defRPr>
            </a:pPr>
            <a:r>
              <a:t>Biznes / Meta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2880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Przygotowanie projektu dofinansowanego (27h)</a:t>
            </a:r>
            <a:br/>
            <a:r>
              <a:t>  → klient wraca po inne szkolenia IRIN</a:t>
            </a:r>
            <a:br/>
            <a:r>
              <a:t>• Akademia Sprzedaży PNSA</a:t>
            </a:r>
            <a:br/>
            <a:r>
              <a:t>• Akademia Zarządzania PNSA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188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1"/>
                </a:solidFill>
                <a:latin typeface="Georgia"/>
              </a:defRPr>
            </a:pPr>
            <a:r>
              <a:t>Soft skills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82880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Akademia Managera</a:t>
            </a:r>
            <a:br/>
            <a:r>
              <a:t>• Akademia rozwoju umiejętności osobistych PNSA</a:t>
            </a:r>
            <a:br/>
            <a:r>
              <a:t>• Komunikacja i negocjacje</a:t>
            </a:r>
            <a:br/>
            <a:r>
              <a:t>• Przywództwo i zarządzanie zespołem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951"/>
                </a:solidFill>
                <a:latin typeface="Georgia"/>
              </a:defRPr>
            </a:pPr>
            <a:r>
              <a:t>Klaster AI / Cyfryzacja — priorytet P3 PARP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Nowoczesny Specjalista Social Media w Erze Cyfryzacji — 5 900 zł · 20h · zdalna · 295 zł/h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Skuteczność osobista + generatywne AI w pracy — 5 880 zł · 28h · zdalna · 210 zł/h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Nowoczesna sprzedaż: cyfryzacja, marketing, bezpieczeństwo — 5 900 zł · 20h · zdalna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Nowoczesna skuteczność: zarządzanie + AI — 8 750 zł · 50h · zdalna · 175 zł/h (najniższy koszt/h!)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Dlaczego te szkolenia się sprzedają: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→ Trafiają w priorytet PARP P3 (AI, cyfryzacja, zielone kompetencje)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→ Zdalne = skalowalne ogólnopolsko, bez kosztów logistyki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→ Krótkie (20-50h) = minimalna absencja pracownika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→ Dofinansowanie do 90% = firmy płacą ułamek kosztu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951"/>
                </a:solidFill>
                <a:latin typeface="Georgia"/>
              </a:defRPr>
            </a:pPr>
            <a:r>
              <a:t>Klaster Edukacja specjalistyczna — priorytet P4 PARP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Integracja sensoryczna I+II — 9 310 zł · 120h · mieszana · 77.6 zł/h (!)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  → Kielce (maj-lip 2026) + Gdańsk (2 terminy: maj-lip, sie-wrz)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  → Kompletny program diagnostyczno-terapeutyczny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  → Najniższy koszt godzinowy w ofercie: 77.6 zł/h (rynek: 150+ zł/h)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TUS - Trening Umiejętności Społecznych — 6 000 zł · 50h · mieszana Kielce · 120 zł/h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  → Z profilaktyką uzależnień cyfrowych (element nowoczesny)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  → Priorytet P4 PARP: sektor opiekuńczy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Premium niche: wysoka cena brutto, ale ekstremalnie niski koszt godzinowy.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Lojalna baza klientów (specjaliści, terapeuci). Powtarzalność zakupowa.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951"/>
                </a:solidFill>
                <a:latin typeface="Georgia"/>
              </a:defRPr>
            </a:pPr>
            <a:r>
              <a:t>Klaster Biznes / Meta-szkolenia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Skuteczne przygotowanie projektu dofinansowanego — 5 300 zł · 27h · zdalna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  → Meta-szkolenie: klient uczy się pozyskiwać dotacje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  → Po szkoleniu wraca po inne usługi IRIN (up-sell natural)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  → TOP OF FUNNEL — generuje pipeline sprzedażowy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Akademia Sprzedaży PNSA — rozwój technik sprzedażowych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Akademia Zarządzania PNSA — zarządzanie + psychologia sportu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Akademia Rozwoju Umiejętności Osobistych PNSA — komunikacja, negocjacje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Partnerstwo z PNSA (Polish National Sales Awards, 15+ edycji) = wyróżnik metodyczny.</a:t>
            </a:r>
          </a:p>
          <a:p>
            <a:pPr>
              <a:spcAft>
                <a:spcPts val="600"/>
              </a:spcAft>
              <a:defRPr sz="1400">
                <a:solidFill>
                  <a:srgbClr val="1B2951"/>
                </a:solidFill>
                <a:latin typeface="Calibri"/>
              </a:defRPr>
            </a:pPr>
            <a:r>
              <a:t>Trenerzy z doświadczeniem biznesowym I sportowym — unikalny element.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9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1"/>
                </a:solidFill>
                <a:latin typeface="Georgia"/>
              </a:defRPr>
            </a:pPr>
            <a:r>
              <a:t>Dofinansowania — mapa obecności IRIN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TIER A — pełne dane, aktywna sprzedaż: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🟢 Świętokrzyskie (siedziba, KFS 2 mln+)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🟢 Pomorskie (oddział Gdańsk, KFS 7.6 mln)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🟢 Zachodniopomorskie (4 mln, OZE = P5)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🟢 Kujawsko-pomorskie (BUR Kierunek-Rozwój)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TIER B — monitoring, zdalne: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🔵 Wielkopolskie (Poznań 7 mln KFS)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🔵 Śląskie (IT+medycyna = P7)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🔵 Dolnośląskie, Małopolskie, Mazowieckie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TIER C — skeleton, do rozbudowy: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⚪ Pozostałe 7 województw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Łączna kwota KFS</a:t>
            </a:r>
            <a:br/>
            <a:r>
              <a:t>w regionach IRIN:</a:t>
            </a:r>
            <a:br/>
            <a:br/>
            <a:r>
              <a:t>~20.6 mln zł</a:t>
            </a:r>
            <a:br/>
            <a:br/>
            <a:r>
              <a:t>Źródła dofinansowania:</a:t>
            </a:r>
            <a:br/>
            <a:r>
              <a:t>• KFS (70-90%)</a:t>
            </a:r>
            <a:br/>
            <a:r>
              <a:t>• BUR (do 80%)</a:t>
            </a:r>
            <a:br/>
            <a:r>
              <a:t>• EFS+ / FERS</a:t>
            </a:r>
            <a:br/>
            <a:br/>
            <a:r>
              <a:t>357 powiatów</a:t>
            </a:r>
            <a:br/>
            <a:r>
              <a:t>w dashboardzie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951"/>
                </a:solidFill>
                <a:latin typeface="Georgia"/>
              </a:defRPr>
            </a:pPr>
            <a:r>
              <a:t>Proces współpracy — 5 kroków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951"/>
                </a:solidFill>
                <a:latin typeface="Georgia"/>
              </a:defRPr>
            </a:pPr>
            <a:r>
              <a:t>1. Diagnoza potrzeb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Rozmowa z firmą: jakie kompetencje rozwijać? Dopasowanie do priorytetów PARP.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951"/>
                </a:solidFill>
                <a:latin typeface="Georgia"/>
              </a:defRPr>
            </a:pPr>
            <a:r>
              <a:t>2. Dobór dofinansowania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KFS, BUR lub EFS+ — weryfikacja uprawnień, pomoc w przygotowaniu wniosku.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951"/>
                </a:solidFill>
                <a:latin typeface="Georgia"/>
              </a:defRPr>
            </a:pPr>
            <a:r>
              <a:t>3. Wybór szkolenia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383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Z katalogu BUR IRIN lub dedykowane. Termin, forma, miejsce.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951"/>
                </a:solidFill>
                <a:latin typeface="Georgia"/>
              </a:defRPr>
            </a:pPr>
            <a:r>
              <a:t>4. Realizacja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Szkolenie przez trenerów-praktyków. Małe grupy, indywidualne podejście.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951"/>
                </a:solidFill>
                <a:latin typeface="Georgia"/>
              </a:defRPr>
            </a:pPr>
            <a:r>
              <a:t>5. Rozliczenie + follow-up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394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Faktura, dokumentacja do PUP/WUP, certyfikat. NPS, kolejne szkolenie.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951"/>
                </a:solidFill>
                <a:latin typeface="Georgia"/>
              </a:defRPr>
            </a:pPr>
            <a:r>
              <a:t>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[PLACEHOLDER — Łukasz wypełni konkretnymi przykładami]</a:t>
            </a:r>
            <a:br/>
            <a:br/>
            <a:r>
              <a:t>• Firma X: szkolenie Y z dofinansowaniem Z% → efekt</a:t>
            </a:r>
            <a:br/>
            <a:r>
              <a:t>• Firma A: akademia B → wzrost kompetencji zespołu o C%</a:t>
            </a:r>
            <a:br/>
            <a:r>
              <a:t>• Instytucja D: projekt EFS+ → E uczestników przeszkolonych</a:t>
            </a:r>
            <a:br/>
            <a:br/>
            <a:r>
              <a:t>Dodać: logotypy klientów, cytaty, liczby.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9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1"/>
                </a:solidFill>
                <a:latin typeface="Georgia"/>
              </a:defRPr>
            </a:pPr>
            <a:r>
              <a:t>Referencje i partnerzy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[PLACEHOLDER — logotypy klientów i partnerów]</a:t>
            </a:r>
            <a:br/>
            <a:br/>
            <a:r>
              <a:t>• PNSA (Polish National Sales Awards) — partner strategiczny</a:t>
            </a:r>
            <a:br/>
            <a:r>
              <a:t>• PARP (Baza Usług Rozwojowych) — certyfikowany dostawca</a:t>
            </a:r>
            <a:br/>
            <a:r>
              <a:t>• [Logotypy firm klientów — do uzupełnienia przez Łukasza]</a:t>
            </a:r>
            <a:br/>
            <a:r>
              <a:t>• [Cytaty z referencji — do uzupełnienia]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951"/>
                </a:solidFill>
                <a:latin typeface="Georgia"/>
              </a:defRPr>
            </a:pPr>
            <a:r>
              <a:t>Zespół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Zarząd:</a:t>
            </a:r>
            <a:br/>
            <a:r>
              <a:t>• Anita Kozakowska — Prezes Zarządu</a:t>
            </a:r>
            <a:br/>
            <a:r>
              <a:t>• [role do uzupełnienia]</a:t>
            </a:r>
            <a:br/>
            <a:br/>
            <a:r>
              <a:t>Kluczowe osoby operacyjne:</a:t>
            </a:r>
            <a:br/>
            <a:r>
              <a:t>• Wiktoria — [rola]</a:t>
            </a:r>
            <a:br/>
            <a:r>
              <a:t>• Grzegorz — [rola]</a:t>
            </a:r>
            <a:br/>
            <a:r>
              <a:t>• Filip — [rola]</a:t>
            </a:r>
            <a:br/>
            <a:r>
              <a:t>• Szczepan — [rola]</a:t>
            </a:r>
            <a:br/>
            <a:br/>
            <a:r>
              <a:t>Oddział pomorski:</a:t>
            </a:r>
            <a:br/>
            <a:r>
              <a:t>• Jakub Jabłoński — koordynator 3 województw (pomorskie, zachodniopomorskie, kujawsko-pomorskie)</a:t>
            </a:r>
            <a:br/>
            <a:br/>
            <a:r>
              <a:t>[PLACEHOLDER — Łukasz uzupełni role, zdjęcia, biogramy trenerów]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9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9A961"/>
                </a:solidFill>
                <a:latin typeface="Georgia"/>
              </a:defRPr>
            </a:pPr>
            <a:r>
              <a:t>Kontakt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INSTYTUT ROZWOJU I NAUKI SP. Z O.O.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4747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📍 ul. Karola Olszewskiego 6, 25-663 Kielce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📧 biuro@irin.pl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📞 +48 453 049 912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🌐 irin.pl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📘 facebook.com/irin.szkolenia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📸 @irin.szkolenia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Godziny pracy: pn.-pt. 8:00-16:00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9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9A961"/>
                </a:solidFill>
                <a:latin typeface="Georgia"/>
              </a:defRPr>
            </a:pPr>
            <a:r>
              <a:t>Rozwijaj kompetencje zespołu</a:t>
            </a:r>
            <a:br/>
            <a:r>
              <a:t>z dofinansowaniem do 90%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Skontaktuj się — pomożemy dobrać szkolenie i dofinansowanie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9A961"/>
                </a:solidFill>
                <a:latin typeface="Calibri"/>
              </a:defRPr>
            </a:pPr>
            <a:r>
              <a:t>biuro@irin.pl · +48 453 049 912 · irin.pl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BUR PARP · Ocena 4.9/5 · 813 ocen · 12 aktywnych usług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